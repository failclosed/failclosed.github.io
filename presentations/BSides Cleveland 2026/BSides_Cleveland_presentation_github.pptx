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8" r:id="rId18"/>
    <p:sldId id="272" r:id="rId19"/>
    <p:sldId id="273" r:id="rId20"/>
    <p:sldId id="274" r:id="rId21"/>
    <p:sldId id="275" r:id="rId2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118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756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C7215-425B-DA76-F5E9-1129FB1D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A51BC-1EF5-0D3D-A13C-22E554199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AE1850-F678-E85C-66D8-E003AFB49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9F689-E3D1-BEEF-E669-6FDD396DAD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710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1143000"/>
            <a:ext cx="17811750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1813560"/>
            <a:ext cx="17811750" cy="10679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623"/>
              </a:lnSpc>
              <a:buNone/>
            </a:pPr>
            <a:r>
              <a:rPr lang="en-US" sz="7950" b="1" kern="0" spc="-239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Pentesting with Claude Code</a:t>
            </a:r>
            <a:endParaRPr lang="en-US" sz="7950" dirty="0"/>
          </a:p>
        </p:txBody>
      </p:sp>
      <p:sp>
        <p:nvSpPr>
          <p:cNvPr id="4" name="Shape 2"/>
          <p:cNvSpPr/>
          <p:nvPr/>
        </p:nvSpPr>
        <p:spPr>
          <a:xfrm>
            <a:off x="1047750" y="3167241"/>
            <a:ext cx="1714500" cy="38100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3529191"/>
            <a:ext cx="13830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through a full engagement — recon to exploitation to report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47750" y="8081010"/>
            <a:ext cx="3630930" cy="605790"/>
          </a:xfrm>
          <a:prstGeom prst="rect">
            <a:avLst/>
          </a:prstGeom>
          <a:ln w="7620">
            <a:solidFill>
              <a:srgbClr val="3A41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03020" y="8221980"/>
            <a:ext cx="322931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2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CVE exploitation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850130" y="8081010"/>
            <a:ext cx="2739390" cy="605790"/>
          </a:xfrm>
          <a:prstGeom prst="rect">
            <a:avLst/>
          </a:prstGeom>
          <a:ln w="7620">
            <a:solidFill>
              <a:srgbClr val="3A41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05400" y="8221980"/>
            <a:ext cx="231103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2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Reusable skills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760970" y="8081010"/>
            <a:ext cx="3779520" cy="605790"/>
          </a:xfrm>
          <a:prstGeom prst="rect">
            <a:avLst/>
          </a:prstGeom>
          <a:ln w="7620">
            <a:solidFill>
              <a:srgbClr val="3A41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16240" y="8221980"/>
            <a:ext cx="33823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2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capability study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47750" y="91059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Presented by </a:t>
            </a:r>
            <a:r>
              <a:rPr lang="en-US" sz="1950" dirty="0" err="1">
                <a:solidFill>
                  <a:srgbClr val="9A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failclosed</a:t>
            </a:r>
            <a:r>
              <a:rPr lang="en-US" sz="1950" dirty="0">
                <a:solidFill>
                  <a:srgbClr val="9A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authorized testing of a self-owned Proxmox home lab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 RULES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testing only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739390"/>
            <a:ext cx="7943850" cy="2000250"/>
          </a:xfrm>
          <a:prstGeom prst="rect">
            <a:avLst/>
          </a:prstGeom>
          <a:solidFill>
            <a:srgbClr val="16191E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36370" y="3089910"/>
            <a:ext cx="788327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&amp; ownership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436370" y="3615690"/>
            <a:ext cx="7381609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21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target was my own home lab. Written scope and rules of engagement before any active probing.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296400" y="2739390"/>
            <a:ext cx="7943850" cy="2000250"/>
          </a:xfrm>
          <a:prstGeom prst="rect">
            <a:avLst/>
          </a:prstGeom>
          <a:solidFill>
            <a:srgbClr val="16191E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85020" y="3089910"/>
            <a:ext cx="788327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Stop-at-boundary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685020" y="3615690"/>
            <a:ext cx="7381609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21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Destructive or persistent steps (RCE, planting hooks, cracking hashes) required explicit, per-step approval.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47750" y="5044440"/>
            <a:ext cx="7943850" cy="2000250"/>
          </a:xfrm>
          <a:prstGeom prst="rect">
            <a:avLst/>
          </a:prstGeom>
          <a:solidFill>
            <a:srgbClr val="16191E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36370" y="5394960"/>
            <a:ext cx="788327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changes to targets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436370" y="5920740"/>
            <a:ext cx="7381609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21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afterward: no config, data, account, or hook changes on any system. Read-only or non-mutating calls.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296400" y="5044440"/>
            <a:ext cx="7943850" cy="2000250"/>
          </a:xfrm>
          <a:prstGeom prst="rect">
            <a:avLst/>
          </a:prstGeom>
          <a:solidFill>
            <a:srgbClr val="16191E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85020" y="5394960"/>
            <a:ext cx="788327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reporting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685020" y="5920740"/>
            <a:ext cx="7381609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21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vs. inferred kept distinct. Where defenses blocked the attack, that was reported — not hidden.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walk through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739390"/>
            <a:ext cx="7753350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2979420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57350" y="2975610"/>
            <a:ext cx="6002167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 &amp; the workflow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657350" y="3425190"/>
            <a:ext cx="600216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Proxmox home lab and how the agent operated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486900" y="2739390"/>
            <a:ext cx="7753350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86900" y="2979420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096500" y="2975610"/>
            <a:ext cx="651621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 → CVE → exploit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0096500" y="3425190"/>
            <a:ext cx="65162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Enumeration, fingerprinting, and a confirmed live CVE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7750" y="4034790"/>
            <a:ext cx="7753350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4274820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657350" y="4271010"/>
            <a:ext cx="62783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chain &amp; the containment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657350" y="4720590"/>
            <a:ext cx="62783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File-read → secrets → creds → escape assessment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486900" y="4034790"/>
            <a:ext cx="7753350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86900" y="4274820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096500" y="4271010"/>
            <a:ext cx="483130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models, three outcomes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0096500" y="4720590"/>
            <a:ext cx="483130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5 vs Opus 5 vs Opus 4.8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7750" y="5330190"/>
            <a:ext cx="7753350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47750" y="5570220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657350" y="5566410"/>
            <a:ext cx="588036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the agent wrote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657350" y="6015990"/>
            <a:ext cx="58803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the engagement into reusable capability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486900" y="5330190"/>
            <a:ext cx="7753350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486900" y="5570220"/>
            <a:ext cx="4191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0096500" y="5566410"/>
            <a:ext cx="5315694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 &amp; the takeaways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096500" y="6015990"/>
            <a:ext cx="531569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Multi-format deliverables + responsible use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B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987457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6B4C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PREMISE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3844707"/>
            <a:ext cx="14716125" cy="1725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814"/>
              </a:lnSpc>
              <a:buNone/>
            </a:pPr>
            <a:r>
              <a:rPr lang="en-US" sz="6150" b="1" kern="0" spc="-184" dirty="0">
                <a:solidFill>
                  <a:srgbClr val="1611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an AI coding agent run a real penetration test?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1047750" y="6065104"/>
            <a:ext cx="13735050" cy="1558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018"/>
              </a:lnSpc>
              <a:buNone/>
            </a:pPr>
            <a:r>
              <a:rPr lang="en-US" sz="2850" dirty="0">
                <a:solidFill>
                  <a:srgbClr val="2B1F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scripted scanner. Not a chatbot dispensing nmap flags. An agent that enumerates, reasons about what it finds, builds a PoC when none exists, and knows when to stop.</a:t>
            </a:r>
            <a:endParaRPr lang="en-US" sz="2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TARGET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Proxmox home lab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2663190"/>
            <a:ext cx="1143357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156"/>
              </a:lnSpc>
              <a:buNone/>
            </a:pPr>
            <a:r>
              <a:rPr lang="en-US" sz="5700" b="1" kern="0" spc="-17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3482340"/>
            <a:ext cx="114335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648307" y="2663190"/>
            <a:ext cx="1863358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156"/>
              </a:lnSpc>
              <a:buNone/>
            </a:pPr>
            <a:r>
              <a:rPr lang="en-US" sz="5700" b="1" kern="0" spc="-17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2648307" y="3482340"/>
            <a:ext cx="18633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HAProxy nodes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875669" y="2663190"/>
            <a:ext cx="81028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87156"/>
              </a:lnSpc>
              <a:buNone/>
            </a:pPr>
            <a:r>
              <a:rPr lang="en-US" sz="5700" b="1" kern="0" spc="-17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4875669" y="3482340"/>
            <a:ext cx="81028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47750" y="4149090"/>
            <a:ext cx="857059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53"/>
              </a:lnSpc>
              <a:buNone/>
            </a:pPr>
            <a:r>
              <a:rPr lang="en-US" sz="2250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Two-node Proxmox VE, reverse-proxied by HAProxy.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47750" y="4906328"/>
            <a:ext cx="8025194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453"/>
              </a:lnSpc>
              <a:buNone/>
            </a:pPr>
            <a:r>
              <a:rPr lang="en-US" sz="2250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Backends hidden on a firewalled server VLAN and were reachable only through the proxy.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47750" y="6077903"/>
            <a:ext cx="8025194" cy="81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21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Apps: Gitea, DokuWiki, Uptime Kuma, Audiobookshelf, UniFi OS, Proxmox. Additional apps were hosted on the offline node.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448800" y="2663190"/>
            <a:ext cx="7791450" cy="5334000"/>
          </a:xfrm>
          <a:prstGeom prst="rect">
            <a:avLst/>
          </a:prstGeom>
          <a:solidFill>
            <a:srgbClr val="FFFFFF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01510" y="2842260"/>
            <a:ext cx="7286030" cy="4975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448800" y="8168640"/>
            <a:ext cx="8570595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Sanitized topology + demonstrated attack path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OPERATED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agent's loop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891790"/>
            <a:ext cx="3086100" cy="38100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3196590"/>
            <a:ext cx="33947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3653790"/>
            <a:ext cx="3394710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Enumerate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047750" y="4202430"/>
            <a:ext cx="317868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757"/>
              </a:lnSpc>
              <a:buNone/>
            </a:pPr>
            <a:r>
              <a:rPr lang="en-US" sz="1950" dirty="0">
                <a:solidFill>
                  <a:srgbClr val="9A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hosts · VLANs · services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4324350" y="2891790"/>
            <a:ext cx="3086100" cy="38100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24350" y="3196590"/>
            <a:ext cx="33947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324350" y="3653790"/>
            <a:ext cx="3394710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4324350" y="4202430"/>
            <a:ext cx="33947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757"/>
              </a:lnSpc>
              <a:buNone/>
            </a:pPr>
            <a:r>
              <a:rPr lang="en-US" sz="1950" dirty="0">
                <a:solidFill>
                  <a:srgbClr val="9A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versions → CVEs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600950" y="2891790"/>
            <a:ext cx="3086100" cy="38100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00950" y="3196590"/>
            <a:ext cx="33947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600950" y="3653790"/>
            <a:ext cx="3394710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7600950" y="4202430"/>
            <a:ext cx="33947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757"/>
              </a:lnSpc>
              <a:buNone/>
            </a:pPr>
            <a:r>
              <a:rPr lang="en-US" sz="1950" dirty="0">
                <a:solidFill>
                  <a:srgbClr val="9A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the PoC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877550" y="2891790"/>
            <a:ext cx="3086100" cy="38100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877550" y="3196590"/>
            <a:ext cx="33947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877550" y="3653790"/>
            <a:ext cx="3394710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0877550" y="4202430"/>
            <a:ext cx="33947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757"/>
              </a:lnSpc>
              <a:buNone/>
            </a:pPr>
            <a:r>
              <a:rPr lang="en-US" sz="1950" dirty="0">
                <a:solidFill>
                  <a:srgbClr val="9A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escape &amp; pivot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4154150" y="2891790"/>
            <a:ext cx="3086100" cy="38100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154150" y="3196590"/>
            <a:ext cx="339471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4154150" y="3653790"/>
            <a:ext cx="3394710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14154150" y="4202430"/>
            <a:ext cx="33947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757"/>
              </a:lnSpc>
              <a:buNone/>
            </a:pPr>
            <a:r>
              <a:rPr lang="en-US" sz="1950" dirty="0">
                <a:solidFill>
                  <a:srgbClr val="9A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formats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47750" y="5669280"/>
            <a:ext cx="14716125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400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loop a human runs, with two differences: it kept a full command-and-evidence log automatically, and it paused for approval at every irreversible step.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— RECON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DNS beat guessing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701290"/>
            <a:ext cx="8375749" cy="3455670"/>
          </a:xfrm>
          <a:prstGeom prst="rect">
            <a:avLst/>
          </a:prstGeom>
          <a:solidFill>
            <a:srgbClr val="08090C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36370" y="3051810"/>
            <a:ext cx="8358360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PTR sweep via the internal resolver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36370" y="3543300"/>
            <a:ext cx="7826465" cy="2288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428"/>
              </a:lnSpc>
              <a:buNone/>
            </a:pPr>
            <a:r>
              <a:rPr lang="en-US" sz="2025" dirty="0">
                <a:solidFill>
                  <a:srgbClr val="C6C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10.20.30.20  -&gt; gitea</a:t>
            </a:r>
            <a:endParaRPr lang="en-US" sz="2025" dirty="0"/>
          </a:p>
          <a:p>
            <a:pPr marL="0" indent="0" algn="l">
              <a:lnSpc>
                <a:spcPct val="155428"/>
              </a:lnSpc>
              <a:buNone/>
            </a:pPr>
            <a:r>
              <a:rPr lang="en-US" sz="2025" dirty="0">
                <a:solidFill>
                  <a:srgbClr val="C6C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10.20.30.21  -&gt; wazuh   </a:t>
            </a:r>
            <a:endParaRPr lang="en-US" sz="2025" dirty="0"/>
          </a:p>
          <a:p>
            <a:pPr marL="0" indent="0" algn="l">
              <a:lnSpc>
                <a:spcPct val="155428"/>
              </a:lnSpc>
              <a:buNone/>
            </a:pPr>
            <a:r>
              <a:rPr lang="en-US" sz="2025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'portainer' </a:t>
            </a:r>
            <a:r>
              <a:rPr lang="en-US" sz="2025" dirty="0">
                <a:solidFill>
                  <a:srgbClr val="C6C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10.20.30.120 -&gt; </a:t>
            </a:r>
            <a:r>
              <a:rPr lang="en-US" sz="2025" dirty="0" err="1">
                <a:solidFill>
                  <a:srgbClr val="C6C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hyperv</a:t>
            </a:r>
            <a:r>
              <a:rPr lang="en-US" sz="2025" dirty="0">
                <a:solidFill>
                  <a:srgbClr val="C6C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</a:p>
          <a:p>
            <a:pPr marL="0" indent="0" algn="l">
              <a:lnSpc>
                <a:spcPct val="155428"/>
              </a:lnSpc>
              <a:buNone/>
            </a:pPr>
            <a:r>
              <a:rPr lang="en-US" sz="2025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missed by guessing </a:t>
            </a:r>
            <a:r>
              <a:rPr lang="en-US" sz="2025" dirty="0">
                <a:solidFill>
                  <a:srgbClr val="C6C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10.20.30.110 -&gt; pdm</a:t>
            </a:r>
            <a:endParaRPr lang="en-US" sz="2025" dirty="0"/>
          </a:p>
          <a:p>
            <a:pPr marL="0" indent="0" algn="l">
              <a:lnSpc>
                <a:spcPct val="155428"/>
              </a:lnSpc>
              <a:buNone/>
            </a:pPr>
            <a:r>
              <a:rPr lang="en-US" sz="2025" dirty="0">
                <a:solidFill>
                  <a:srgbClr val="C6C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AXFR  -&gt;  </a:t>
            </a:r>
            <a:r>
              <a:rPr lang="en-US" sz="2025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REFUSED  (good)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956899" y="2701290"/>
            <a:ext cx="7283291" cy="3455670"/>
          </a:xfrm>
          <a:prstGeom prst="rect">
            <a:avLst/>
          </a:prstGeom>
          <a:solidFill>
            <a:srgbClr val="16191E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45520" y="3051810"/>
            <a:ext cx="715665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learned the hard way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345520" y="3615690"/>
            <a:ext cx="6701233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early unthrottled burst against a shared registrar's DNS coincided with an internal self-hosted website going down.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345520" y="5006340"/>
            <a:ext cx="670123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throttle everything and query the internal resolver. Stop brute-forcing DNS records.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— IDENTIFY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Outdated software is not a CVE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663190"/>
            <a:ext cx="7886700" cy="3314700"/>
          </a:xfrm>
          <a:prstGeom prst="rect">
            <a:avLst/>
          </a:prstGeom>
          <a:solidFill>
            <a:srgbClr val="16191E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36370" y="3013710"/>
            <a:ext cx="782040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Sonnet 5 stopped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36370" y="3550920"/>
            <a:ext cx="7820406" cy="537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2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Gitea 1.22.4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36370" y="4259580"/>
            <a:ext cx="782040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93"/>
              </a:lnSpc>
              <a:buNone/>
            </a:pPr>
            <a:r>
              <a:rPr lang="en-US" sz="2250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“out of date, ~5 releases behind”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36370" y="4869180"/>
            <a:ext cx="782040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494"/>
              </a:lnSpc>
              <a:buNone/>
            </a:pPr>
            <a:r>
              <a:rPr lang="en-US" sz="2025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True, but not actionable, and easy to over or under-state.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353550" y="2663190"/>
            <a:ext cx="7886700" cy="3314700"/>
          </a:xfrm>
          <a:prstGeom prst="rect">
            <a:avLst/>
          </a:prstGeom>
          <a:solidFill>
            <a:srgbClr val="241205"/>
          </a:solidFill>
          <a:ln w="762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742170" y="3013710"/>
            <a:ext cx="7820406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Opus 4.8 did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742170" y="3550920"/>
            <a:ext cx="7820406" cy="537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F8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CVE-2026-59774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742170" y="4259580"/>
            <a:ext cx="7820406" cy="4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2100" dirty="0">
                <a:solidFill>
                  <a:srgbClr val="E7D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CVSS 9.8 · unauth arbitrary file read · affects 1.22.1–1.27.0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742170" y="4855845"/>
            <a:ext cx="732274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94"/>
              </a:lnSpc>
              <a:buNone/>
            </a:pPr>
            <a:r>
              <a:rPr lang="en-US" sz="2025" dirty="0">
                <a:solidFill>
                  <a:srgbClr val="C6B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the version was in range, found the advisory, and checked active-exploitation status.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047750" y="6396990"/>
            <a:ext cx="1634490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400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Discipline: separate a confirmed CVE from mere patch-currency risk and never inflate one into the other.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47750" y="7105650"/>
            <a:ext cx="17811750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GitHub Security Advisory GHSA-6v53-hr58-556r (go-gitea/gitea) · CVE-2026-59774, CVSS 9.8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— EXPLOIT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read primitive, a full breach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663190"/>
            <a:ext cx="8720614" cy="3661410"/>
          </a:xfrm>
          <a:prstGeom prst="rect">
            <a:avLst/>
          </a:prstGeom>
          <a:solidFill>
            <a:srgbClr val="08090C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7320" y="2994660"/>
            <a:ext cx="8779621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CVE-2026-59774 · no account, no credentials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3467100"/>
            <a:ext cx="8220918" cy="2564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9324"/>
              </a:lnSpc>
              <a:buNone/>
            </a:pPr>
            <a:r>
              <a:rPr lang="en-US" sz="1950" dirty="0">
                <a:solidFill>
                  <a:srgbClr val="C6C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/repo/markup   </a:t>
            </a:r>
            <a:r>
              <a:rPr lang="en-US" sz="19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#+INCLUDE "/etc/passwd" </a:t>
            </a:r>
            <a:r>
              <a:rPr lang="en-US" sz="1950" dirty="0">
                <a:solidFill>
                  <a:srgbClr val="C6C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  root:x:0:0:...:/bin/sh</a:t>
            </a:r>
            <a:endParaRPr lang="en-US" sz="1950" dirty="0"/>
          </a:p>
          <a:p>
            <a:pPr marL="0" indent="0" algn="l">
              <a:lnSpc>
                <a:spcPct val="149324"/>
              </a:lnSpc>
              <a:buNone/>
            </a:pPr>
            <a:endParaRPr lang="en-US" sz="1950" dirty="0"/>
          </a:p>
          <a:p>
            <a:pPr marL="0" indent="0" algn="l">
              <a:lnSpc>
                <a:spcPct val="149324"/>
              </a:lnSpc>
              <a:buNone/>
            </a:pPr>
            <a:r>
              <a:rPr lang="en-US" sz="1950" dirty="0">
                <a:solidFill>
                  <a:srgbClr val="C6C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app.ini  -&gt;  </a:t>
            </a:r>
            <a:r>
              <a:rPr lang="en-US" sz="1950" dirty="0">
                <a:solidFill>
                  <a:srgbClr val="FF8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INTERNAL_TOKEN, JWT keys </a:t>
            </a:r>
            <a:r>
              <a:rPr lang="en-US" sz="1950" dirty="0">
                <a:solidFill>
                  <a:srgbClr val="C6C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</a:t>
            </a:r>
            <a:r>
              <a:rPr lang="en-US" sz="1950" dirty="0" err="1">
                <a:solidFill>
                  <a:srgbClr val="C6C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gitea.db</a:t>
            </a:r>
            <a:r>
              <a:rPr lang="en-US" sz="1950" dirty="0">
                <a:solidFill>
                  <a:srgbClr val="C6C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-&gt; </a:t>
            </a:r>
            <a:r>
              <a:rPr lang="en-US" sz="1950" dirty="0">
                <a:solidFill>
                  <a:srgbClr val="FF8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email + password hash </a:t>
            </a:r>
            <a:r>
              <a:rPr lang="en-US" sz="1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secrets masked; hash NOT cracked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263664" y="2663190"/>
            <a:ext cx="6976586" cy="1318260"/>
          </a:xfrm>
          <a:prstGeom prst="rect">
            <a:avLst/>
          </a:prstGeom>
          <a:solidFill>
            <a:srgbClr val="16191E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95134" y="2937510"/>
            <a:ext cx="694501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Arbitrary file read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95134" y="3383280"/>
            <a:ext cx="69450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/etc/passwd → Alpine LXC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0263664" y="4191000"/>
            <a:ext cx="6976586" cy="1318260"/>
          </a:xfrm>
          <a:prstGeom prst="rect">
            <a:avLst/>
          </a:prstGeom>
          <a:solidFill>
            <a:srgbClr val="16191E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95134" y="4465320"/>
            <a:ext cx="694501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secrets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595134" y="4911090"/>
            <a:ext cx="69450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INTERNAL_TOKEN, signing keys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263664" y="5718810"/>
            <a:ext cx="6976586" cy="1318260"/>
          </a:xfrm>
          <a:prstGeom prst="rect">
            <a:avLst/>
          </a:prstGeom>
          <a:solidFill>
            <a:srgbClr val="16191E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95134" y="5993130"/>
            <a:ext cx="6945011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 database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595134" y="6438900"/>
            <a:ext cx="694501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email + password hash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47750" y="7456170"/>
            <a:ext cx="17811750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GHSA-6v53-hr58-556r unauthenticated arbitrary file read via Org-mode #+INCLUDE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HONEST PART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defenses held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739390"/>
            <a:ext cx="7924800" cy="2584133"/>
          </a:xfrm>
          <a:prstGeom prst="rect">
            <a:avLst/>
          </a:prstGeom>
          <a:solidFill>
            <a:srgbClr val="0F1A13"/>
          </a:solidFill>
          <a:ln w="7620">
            <a:solidFill>
              <a:srgbClr val="285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74470" y="3128010"/>
            <a:ext cx="7778496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HAProxy filtered /api/internal/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74470" y="3691890"/>
            <a:ext cx="7283501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024"/>
              </a:lnSpc>
              <a:buNone/>
            </a:pPr>
            <a:r>
              <a:rPr lang="en-US" sz="2175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documented RCE path needs Gitea's internal API. The proxy blocks it — proven with a valid token still returning 403.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9315450" y="2739390"/>
            <a:ext cx="7924800" cy="2584133"/>
          </a:xfrm>
          <a:prstGeom prst="rect">
            <a:avLst/>
          </a:prstGeom>
          <a:solidFill>
            <a:srgbClr val="0F1A13"/>
          </a:solidFill>
          <a:ln w="7620">
            <a:solidFill>
              <a:srgbClr val="285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742170" y="3128010"/>
            <a:ext cx="7778496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firewalled off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742170" y="3691890"/>
            <a:ext cx="728350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024"/>
              </a:lnSpc>
              <a:buNone/>
            </a:pPr>
            <a:r>
              <a:rPr lang="en-US" sz="2175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Gitea's real IP was unreachable from the client VLAN — no way to hit the backend directly and bypass the filter.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1047750" y="6009323"/>
            <a:ext cx="157162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391"/>
              </a:lnSpc>
              <a:buNone/>
            </a:pPr>
            <a:r>
              <a:rPr lang="en-US" sz="300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unauthenticated data breach but contained from host compromise.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47750" y="6752273"/>
            <a:ext cx="157162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53"/>
              </a:lnSpc>
              <a:buNone/>
            </a:pPr>
            <a:r>
              <a:rPr lang="en-US" sz="225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reported exactly where it was stopped, instead of overstating access.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ESCAPE QUESTION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container root reach the host?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663190"/>
            <a:ext cx="8396168" cy="3097530"/>
          </a:xfrm>
          <a:prstGeom prst="rect">
            <a:avLst/>
          </a:prstGeom>
          <a:solidFill>
            <a:srgbClr val="08090C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7320" y="2994660"/>
            <a:ext cx="8422731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 assessment via the file-read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3467100"/>
            <a:ext cx="7886739" cy="2175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9324"/>
              </a:lnSpc>
              <a:buNone/>
            </a:pPr>
            <a:r>
              <a:rPr lang="en-US" sz="1950" dirty="0">
                <a:solidFill>
                  <a:srgbClr val="C6C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/proc/1/uid_map -&gt; </a:t>
            </a:r>
            <a:r>
              <a:rPr lang="en-US" sz="19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0  100000  65536 </a:t>
            </a:r>
            <a:r>
              <a:rPr lang="en-US" sz="1950" dirty="0">
                <a:solidFill>
                  <a:srgbClr val="C6C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1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root -&gt; host uid 100000 </a:t>
            </a:r>
            <a:r>
              <a:rPr lang="en-US" sz="1950" dirty="0">
                <a:solidFill>
                  <a:srgbClr val="C6C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mountinfo -&gt; no host bind-mount</a:t>
            </a:r>
            <a:endParaRPr lang="en-US" sz="1950" dirty="0"/>
          </a:p>
          <a:p>
            <a:pPr marL="0" indent="0" algn="l">
              <a:lnSpc>
                <a:spcPct val="149324"/>
              </a:lnSpc>
              <a:buNone/>
            </a:pPr>
            <a:r>
              <a:rPr lang="en-US" sz="1950" dirty="0">
                <a:solidFill>
                  <a:srgbClr val="C6C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block device</a:t>
            </a:r>
            <a:endParaRPr lang="en-US" sz="1950" dirty="0"/>
          </a:p>
          <a:p>
            <a:pPr marL="0" indent="0" algn="l">
              <a:lnSpc>
                <a:spcPct val="149324"/>
              </a:lnSpc>
              <a:buNone/>
            </a:pPr>
            <a:r>
              <a:rPr lang="en-US" sz="1950" dirty="0">
                <a:solidFill>
                  <a:srgbClr val="C6CB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seccomp   -&gt; 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939219" y="2663190"/>
            <a:ext cx="7300972" cy="3097530"/>
          </a:xfrm>
          <a:prstGeom prst="rect">
            <a:avLst/>
          </a:prstGeom>
          <a:solidFill>
            <a:srgbClr val="0F1A13"/>
          </a:solidFill>
          <a:ln w="7620">
            <a:solidFill>
              <a:srgbClr val="285C3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27838" y="3013710"/>
            <a:ext cx="7176105" cy="45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CLOSED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0327838" y="3619500"/>
            <a:ext cx="671944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Unprivileged LXC. Container root maps to host uid 100000 — powerless on the host.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327838" y="4610100"/>
            <a:ext cx="671944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bind-mount or device to leverage. The exact UID-escape I set out to test was mitigated by design.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47750" y="6322695"/>
            <a:ext cx="163449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53"/>
              </a:lnSpc>
              <a:buNone/>
            </a:pPr>
            <a:r>
              <a:rPr lang="en-US" sz="225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Residual: a shared-kernel LPE — not a UID-mapping flaw, and it needs code execution first (blocked above).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47750" y="6965632"/>
            <a:ext cx="17811750" cy="339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Proxmox VE Wiki, “Unprivileged LXC containers” — default subuid/subgid offset 100000:65536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CENTERPIECE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project. Three models. Three outcomes.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701290"/>
            <a:ext cx="5194280" cy="4098608"/>
          </a:xfrm>
          <a:prstGeom prst="rect">
            <a:avLst/>
          </a:prstGeom>
          <a:solidFill>
            <a:srgbClr val="16191E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7320" y="3051810"/>
            <a:ext cx="4900654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5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17320" y="3653790"/>
            <a:ext cx="4900654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025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Enumerated the estate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417320" y="4147185"/>
            <a:ext cx="4900654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025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Flagged outdated software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417320" y="4640580"/>
            <a:ext cx="4900654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025" dirty="0">
                <a:solidFill>
                  <a:srgbClr val="FF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specific CVE identified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417320" y="5133975"/>
            <a:ext cx="4900654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025" dirty="0">
                <a:solidFill>
                  <a:srgbClr val="FF8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Did not exploit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417320" y="5703570"/>
            <a:ext cx="4588794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110"/>
              </a:lnSpc>
              <a:buNone/>
            </a:pPr>
            <a:r>
              <a:rPr lang="en-US" sz="2025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Capable recon — stopped at ‘looks old.’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6546830" y="2701290"/>
            <a:ext cx="5194280" cy="4098608"/>
          </a:xfrm>
          <a:prstGeom prst="rect">
            <a:avLst/>
          </a:prstGeom>
          <a:solidFill>
            <a:srgbClr val="16191E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16401" y="3051810"/>
            <a:ext cx="4900654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5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916401" y="3653790"/>
            <a:ext cx="4900654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025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Fully capable model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6916401" y="4147185"/>
            <a:ext cx="4900654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025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Declined offensive tasks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6916401" y="4640580"/>
            <a:ext cx="4900654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025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Policy: no offensive cyber ops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6916401" y="5133975"/>
            <a:ext cx="4900654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025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Right tool, wrong job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6916401" y="6076474"/>
            <a:ext cx="4900654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110"/>
              </a:lnSpc>
              <a:buNone/>
            </a:pPr>
            <a:r>
              <a:rPr lang="en-US" sz="2025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Won't run the offensive workflow.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2045910" y="2701290"/>
            <a:ext cx="5194340" cy="4098608"/>
          </a:xfrm>
          <a:prstGeom prst="rect">
            <a:avLst/>
          </a:prstGeom>
          <a:solidFill>
            <a:srgbClr val="241205"/>
          </a:solidFill>
          <a:ln w="7620">
            <a:solidFill>
              <a:srgbClr val="6B3A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415481" y="3051810"/>
            <a:ext cx="4900720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4.8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2415481" y="3653790"/>
            <a:ext cx="490072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025" dirty="0">
                <a:solidFill>
                  <a:srgbClr val="E7D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Identified the CVE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12415481" y="4147185"/>
            <a:ext cx="490072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025" dirty="0">
                <a:solidFill>
                  <a:srgbClr val="E7D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 the PoC empirically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12415481" y="4640580"/>
            <a:ext cx="490072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025" dirty="0">
                <a:solidFill>
                  <a:srgbClr val="E7D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Chained file-read → creds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12415481" y="5133975"/>
            <a:ext cx="4900720" cy="39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727"/>
              </a:lnSpc>
              <a:buNone/>
            </a:pPr>
            <a:r>
              <a:rPr lang="en-US" sz="2025" dirty="0">
                <a:solidFill>
                  <a:srgbClr val="E7D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Assessed escape &amp; pivot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12415481" y="6076474"/>
            <a:ext cx="4900720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110"/>
              </a:lnSpc>
              <a:buNone/>
            </a:pPr>
            <a:r>
              <a:rPr lang="en-US" sz="2025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the full engagement.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and policy are different axes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815590"/>
            <a:ext cx="7791450" cy="38100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3158490"/>
            <a:ext cx="8570595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047750" y="3909060"/>
            <a:ext cx="8025194" cy="89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264"/>
              </a:lnSpc>
              <a:buNone/>
            </a:pPr>
            <a:r>
              <a:rPr lang="en-US" sz="2325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model actually do the work to find the CVE, build the PoC and chain exploits?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047750" y="5013007"/>
            <a:ext cx="8025194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024"/>
              </a:lnSpc>
              <a:buNone/>
            </a:pPr>
            <a:r>
              <a:rPr lang="en-US" sz="2175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5 noticed out of date but didn’t note an exploitable vulnerability.</a:t>
            </a:r>
            <a:endParaRPr lang="en-US" sz="2175" dirty="0"/>
          </a:p>
        </p:txBody>
      </p:sp>
      <p:sp>
        <p:nvSpPr>
          <p:cNvPr id="8" name="Shape 6"/>
          <p:cNvSpPr/>
          <p:nvPr/>
        </p:nvSpPr>
        <p:spPr>
          <a:xfrm>
            <a:off x="9448800" y="2815590"/>
            <a:ext cx="7791450" cy="38100"/>
          </a:xfrm>
          <a:prstGeom prst="rect">
            <a:avLst/>
          </a:prstGeom>
          <a:solidFill>
            <a:srgbClr val="3A41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48800" y="3158490"/>
            <a:ext cx="8570595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9448800" y="3909060"/>
            <a:ext cx="8025194" cy="8943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64"/>
              </a:lnSpc>
              <a:buNone/>
            </a:pPr>
            <a:r>
              <a:rPr lang="en-US" sz="2325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the model do this class of work at all?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9448800" y="5013007"/>
            <a:ext cx="8025194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024"/>
              </a:lnSpc>
              <a:buNone/>
            </a:pPr>
            <a:r>
              <a:rPr lang="en-US" sz="2175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5 is capable, but declines offensive operations so model choice, not just prompt, decides the engagement.</a:t>
            </a:r>
            <a:endParaRPr lang="en-US" sz="21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COMPOUNDING VALUE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wrote its playbook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739390"/>
            <a:ext cx="3862387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2956560"/>
            <a:ext cx="42486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3394710"/>
            <a:ext cx="4248626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400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Enumeration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57788" y="2739390"/>
            <a:ext cx="3862387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57788" y="2956560"/>
            <a:ext cx="42486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157788" y="3394710"/>
            <a:ext cx="4248626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400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Fingerprinting &amp; CVEs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267825" y="2739390"/>
            <a:ext cx="3862387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267825" y="2956560"/>
            <a:ext cx="42486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267825" y="3394710"/>
            <a:ext cx="4248626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400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Key-system triage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3377863" y="2739390"/>
            <a:ext cx="3862387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377863" y="2956560"/>
            <a:ext cx="42486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377863" y="3394710"/>
            <a:ext cx="4248626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400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Offensive tooling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47750" y="4038600"/>
            <a:ext cx="3862387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47750" y="4255770"/>
            <a:ext cx="42486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47750" y="4693920"/>
            <a:ext cx="4248626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400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hardening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157788" y="4038600"/>
            <a:ext cx="3862387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57788" y="4255770"/>
            <a:ext cx="42486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5157788" y="4693920"/>
            <a:ext cx="4248626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400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Diagramming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267825" y="4038600"/>
            <a:ext cx="3862387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67825" y="4255770"/>
            <a:ext cx="42486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267825" y="4693920"/>
            <a:ext cx="4248626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400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writing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3377863" y="4038600"/>
            <a:ext cx="3862387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377863" y="4255770"/>
            <a:ext cx="424862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3377863" y="4693920"/>
            <a:ext cx="4248626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043"/>
              </a:lnSpc>
              <a:buNone/>
            </a:pPr>
            <a:r>
              <a:rPr lang="en-US" sz="2400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anonymization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47750" y="5775960"/>
            <a:ext cx="16344900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64"/>
              </a:lnSpc>
              <a:buNone/>
            </a:pPr>
            <a:r>
              <a:rPr lang="en-US" sz="2325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reusable, environment-neutral skills, composable, and scrubbed of anything specific to this lab.</a:t>
            </a:r>
            <a:endParaRPr lang="en-US" sz="2325" dirty="0"/>
          </a:p>
        </p:txBody>
      </p:sp>
      <p:sp>
        <p:nvSpPr>
          <p:cNvPr id="29" name="Text 27"/>
          <p:cNvSpPr/>
          <p:nvPr/>
        </p:nvSpPr>
        <p:spPr>
          <a:xfrm>
            <a:off x="1047750" y="6413659"/>
            <a:ext cx="16344900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64"/>
              </a:lnSpc>
              <a:buNone/>
            </a:pPr>
            <a:r>
              <a:rPr lang="en-US" sz="2325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engagement didn't just produce a report. It produced capability the next engagement starts from.</a:t>
            </a:r>
            <a:endParaRPr lang="en-US" sz="23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DELIVERABLE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report a defender can act 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739390"/>
            <a:ext cx="7943850" cy="1673066"/>
          </a:xfrm>
          <a:prstGeom prst="rect">
            <a:avLst/>
          </a:prstGeom>
          <a:solidFill>
            <a:srgbClr val="16191E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36370" y="3089910"/>
            <a:ext cx="788327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formats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36370" y="3661410"/>
            <a:ext cx="7883271" cy="4386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657"/>
              </a:lnSpc>
              <a:buNone/>
            </a:pPr>
            <a:r>
              <a:rPr lang="en-US" sz="2175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Markdown, HTML, PDF, DOCX from one source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9296400" y="2739390"/>
            <a:ext cx="7943850" cy="1673066"/>
          </a:xfrm>
          <a:prstGeom prst="rect">
            <a:avLst/>
          </a:prstGeom>
          <a:solidFill>
            <a:srgbClr val="16191E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85020" y="3089910"/>
            <a:ext cx="788327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built-in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85020" y="3661410"/>
            <a:ext cx="7883271" cy="4386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657"/>
              </a:lnSpc>
              <a:buNone/>
            </a:pPr>
            <a:r>
              <a:rPr lang="en-US" sz="2175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command output at every step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047750" y="4717256"/>
            <a:ext cx="7943850" cy="1673066"/>
          </a:xfrm>
          <a:prstGeom prst="rect">
            <a:avLst/>
          </a:prstGeom>
          <a:solidFill>
            <a:srgbClr val="16191E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36370" y="5067776"/>
            <a:ext cx="788327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Prioritized fixes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36370" y="5639276"/>
            <a:ext cx="7883271" cy="4386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657"/>
              </a:lnSpc>
              <a:buNone/>
            </a:pPr>
            <a:r>
              <a:rPr lang="en-US" sz="2175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actions + step-by-step remediation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9296400" y="4717256"/>
            <a:ext cx="7943850" cy="1673066"/>
          </a:xfrm>
          <a:prstGeom prst="rect">
            <a:avLst/>
          </a:prstGeom>
          <a:solidFill>
            <a:srgbClr val="16191E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85020" y="5067776"/>
            <a:ext cx="7883271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Anonymized twin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685020" y="5639276"/>
            <a:ext cx="7883271" cy="4386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657"/>
              </a:lnSpc>
              <a:buNone/>
            </a:pPr>
            <a:r>
              <a:rPr lang="en-US" sz="2175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sanitized copy safe to share externally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1047750" y="6999923"/>
            <a:ext cx="16344900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64"/>
              </a:lnSpc>
              <a:buNone/>
            </a:pPr>
            <a:r>
              <a:rPr lang="en-US" sz="2325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Rated findings as either confirmed-exploited or theoretical, and weighted them by what the defenses stop.</a:t>
            </a:r>
            <a:endParaRPr lang="en-US" sz="23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RESPONSIBLE USE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made this work and safe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777490"/>
            <a:ext cx="7791450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3032760"/>
            <a:ext cx="8570595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on impact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047750" y="3558540"/>
            <a:ext cx="8025194" cy="839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657"/>
              </a:lnSpc>
              <a:buNone/>
            </a:pPr>
            <a:r>
              <a:rPr lang="en-US" sz="2175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paused at every irreversible step; I owned every go/no-go.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9448800" y="2777490"/>
            <a:ext cx="7791450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48800" y="3032760"/>
            <a:ext cx="8570595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is the gate (sort of)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448800" y="3558540"/>
            <a:ext cx="8025194" cy="839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657"/>
              </a:lnSpc>
              <a:buNone/>
            </a:pPr>
            <a:r>
              <a:rPr lang="en-US" sz="2175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 target, define scope, keep the guardrails that justify offensive work.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1047750" y="4740593"/>
            <a:ext cx="7791450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47750" y="4995863"/>
            <a:ext cx="8570595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 over bravado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47750" y="5521643"/>
            <a:ext cx="8025194" cy="839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657"/>
              </a:lnSpc>
              <a:buNone/>
            </a:pPr>
            <a:r>
              <a:rPr lang="en-US" sz="2175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vs. inferred; report where you were blocked, don't overstate access.</a:t>
            </a:r>
            <a:endParaRPr lang="en-US" sz="2175" dirty="0"/>
          </a:p>
        </p:txBody>
      </p:sp>
      <p:sp>
        <p:nvSpPr>
          <p:cNvPr id="13" name="Shape 11"/>
          <p:cNvSpPr/>
          <p:nvPr/>
        </p:nvSpPr>
        <p:spPr>
          <a:xfrm>
            <a:off x="9448800" y="4740593"/>
            <a:ext cx="7791450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48800" y="4995863"/>
            <a:ext cx="8570595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Low-noise by default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448800" y="5521643"/>
            <a:ext cx="8025194" cy="839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657"/>
              </a:lnSpc>
              <a:buNone/>
            </a:pPr>
            <a:r>
              <a:rPr lang="en-US" sz="2175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Throttle; never brute-force shared infrastructure; prefer the internal resolver.</a:t>
            </a:r>
            <a:endParaRPr lang="en-US" sz="21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0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C2A26D-1D46-7FA0-76B1-15ACF0903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B577A70E-D8A8-7F54-A360-0678097BBE2B}"/>
              </a:ext>
            </a:extLst>
          </p:cNvPr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FB020"/>
                </a:solidFill>
                <a:latin typeface="Courier New" pitchFamily="34" charset="0"/>
                <a:cs typeface="Courier New" pitchFamily="34" charset="-120"/>
              </a:rPr>
              <a:t>Pirate’s Code</a:t>
            </a:r>
            <a:endParaRPr lang="en-US" sz="195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25B6B442-28B7-D01D-A08C-D52F7BCD4EF7}"/>
              </a:ext>
            </a:extLst>
          </p:cNvPr>
          <p:cNvSpPr/>
          <p:nvPr/>
        </p:nvSpPr>
        <p:spPr>
          <a:xfrm>
            <a:off x="1047750" y="1504950"/>
            <a:ext cx="178117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are more like  guidelines</a:t>
            </a:r>
            <a:endParaRPr lang="en-US" sz="48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41F88DC8-6354-1E92-E7B5-BE93200856DB}"/>
              </a:ext>
            </a:extLst>
          </p:cNvPr>
          <p:cNvSpPr/>
          <p:nvPr/>
        </p:nvSpPr>
        <p:spPr>
          <a:xfrm>
            <a:off x="9448800" y="3032760"/>
            <a:ext cx="8570595" cy="430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endParaRPr lang="en-US" sz="27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D9D1314C-FC9F-7B0B-430F-2F73902F8304}"/>
              </a:ext>
            </a:extLst>
          </p:cNvPr>
          <p:cNvSpPr/>
          <p:nvPr/>
        </p:nvSpPr>
        <p:spPr>
          <a:xfrm>
            <a:off x="9448800" y="3558540"/>
            <a:ext cx="8025194" cy="839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657"/>
              </a:lnSpc>
              <a:buNone/>
            </a:pPr>
            <a:endParaRPr lang="en-US" sz="2175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BE55EB3-0863-75FA-4692-49431CAD8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804" y="3142578"/>
            <a:ext cx="15826392" cy="360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04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A05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BOTTOM LINE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0E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remember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815590"/>
            <a:ext cx="16192500" cy="9525"/>
          </a:xfrm>
          <a:prstGeom prst="rect">
            <a:avLst/>
          </a:prstGeom>
          <a:solidFill>
            <a:srgbClr val="C9CD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3166110"/>
            <a:ext cx="4648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A05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817370" y="3108960"/>
            <a:ext cx="16916383" cy="521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E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real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817370" y="3707130"/>
            <a:ext cx="1691638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53"/>
              </a:lnSpc>
              <a:buNone/>
            </a:pPr>
            <a:r>
              <a:rPr lang="en-US" sz="2250" dirty="0">
                <a:solidFill>
                  <a:srgbClr val="4A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ran a genuine engagement — recon, a confirmed CVE, a built-from-scratch PoC, a bounded escape assessment.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7750" y="4502468"/>
            <a:ext cx="16192500" cy="9525"/>
          </a:xfrm>
          <a:prstGeom prst="rect">
            <a:avLst/>
          </a:prstGeom>
          <a:solidFill>
            <a:srgbClr val="C9CD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7750" y="4852988"/>
            <a:ext cx="4648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A05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817370" y="4795838"/>
            <a:ext cx="16208824" cy="521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E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choice is methodology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817370" y="5394007"/>
            <a:ext cx="1620882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53"/>
              </a:lnSpc>
              <a:buNone/>
            </a:pPr>
            <a:r>
              <a:rPr lang="en-US" sz="2250" dirty="0">
                <a:solidFill>
                  <a:srgbClr val="4A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and policy both gate offensive work. Sonnet 5 couldn't finish; Opus 5 wouldn't start; Opus 4.8 did the job.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047750" y="6189345"/>
            <a:ext cx="16192500" cy="9525"/>
          </a:xfrm>
          <a:prstGeom prst="rect">
            <a:avLst/>
          </a:prstGeom>
          <a:solidFill>
            <a:srgbClr val="C9CD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6539865"/>
            <a:ext cx="4648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A05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817370" y="6482715"/>
            <a:ext cx="15331202" cy="5219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E1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compounds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817370" y="7080885"/>
            <a:ext cx="1533120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53"/>
              </a:lnSpc>
              <a:buNone/>
            </a:pPr>
            <a:r>
              <a:rPr lang="en-US" sz="2250" dirty="0">
                <a:solidFill>
                  <a:srgbClr val="4A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engagement produced a report and reusable skills. Your methodology becomes executable and portable.</a:t>
            </a:r>
            <a:endParaRPr lang="en-US" sz="2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LET'S TALK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-96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701290"/>
            <a:ext cx="16192500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2918460"/>
            <a:ext cx="178117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“Isn't this just an AI running nmap?”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47750" y="3322320"/>
            <a:ext cx="178117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No: it built a PoC for a CVE with no public exploit.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47750" y="3962400"/>
            <a:ext cx="16192500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47750" y="4179570"/>
            <a:ext cx="178117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stops it from attacking the wrong thing?”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047750" y="4583430"/>
            <a:ext cx="178117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+ human approval on every impactful step.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47750" y="5223510"/>
            <a:ext cx="16192500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47750" y="5440680"/>
            <a:ext cx="178117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did Opus 5 refuse but 4.8 didn't?”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47750" y="5844540"/>
            <a:ext cx="178117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policy postures on offensive cyber; capability is separate.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47750" y="6484620"/>
            <a:ext cx="16192500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47750" y="6701790"/>
            <a:ext cx="178117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“Would it have gotten root if you'd let it?”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47750" y="7105650"/>
            <a:ext cx="178117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RCE path was blocked by the proxy; the escape vector was closed.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47750" y="7745730"/>
            <a:ext cx="16192500" cy="9525"/>
          </a:xfrm>
          <a:prstGeom prst="rect">
            <a:avLst/>
          </a:prstGeom>
          <a:solidFill>
            <a:srgbClr val="262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47750" y="7962900"/>
            <a:ext cx="1781175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“Can I trust the report?”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47750" y="8366760"/>
            <a:ext cx="1781175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500"/>
              </a:lnSpc>
              <a:buNone/>
            </a:pPr>
            <a:r>
              <a:rPr lang="en-US" sz="210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separates confirmed from inferred and shows where it was stopped.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kern="0" spc="351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SUPPLEMENTAL — THE ESCAPE QUESTION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504950"/>
            <a:ext cx="17811750" cy="697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kern="0" spc="-90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the LXC had been privileged?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2430780"/>
            <a:ext cx="15304770" cy="839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657"/>
              </a:lnSpc>
              <a:buNone/>
            </a:pPr>
            <a:r>
              <a:rPr lang="en-US" sz="2175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finding on the escape slide is a direct consequence of the Unprivileged checkbox — not a separately-run remapping tool.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1047750" y="3650933"/>
            <a:ext cx="7905750" cy="3750469"/>
          </a:xfrm>
          <a:prstGeom prst="rect">
            <a:avLst/>
          </a:prstGeom>
          <a:solidFill>
            <a:srgbClr val="16191E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17320" y="3982403"/>
            <a:ext cx="788327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UID separation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417320" y="4527233"/>
            <a:ext cx="738160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94"/>
              </a:lnSpc>
              <a:buNone/>
            </a:pPr>
            <a:r>
              <a:rPr lang="en-US" sz="2025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privileged LXC does not remap UIDs. Container root is host root (uid 0 → host uid 0).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417320" y="5470207"/>
            <a:ext cx="7381609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94"/>
              </a:lnSpc>
              <a:buNone/>
            </a:pPr>
            <a:r>
              <a:rPr lang="en-US" sz="2025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then depends entirely on AppArmor/SELinux, seccomp, and capability drops — not on the namespace boundary this engagement relied on to close the vector.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334500" y="3650933"/>
            <a:ext cx="7905750" cy="3750469"/>
          </a:xfrm>
          <a:prstGeom prst="rect">
            <a:avLst/>
          </a:prstGeom>
          <a:solidFill>
            <a:srgbClr val="16191E"/>
          </a:solidFill>
          <a:ln w="7620">
            <a:solidFill>
              <a:srgbClr val="26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704070" y="3982403"/>
            <a:ext cx="7883271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breakout primitives apply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704070" y="4527233"/>
            <a:ext cx="7381609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494"/>
              </a:lnSpc>
              <a:buNone/>
            </a:pPr>
            <a:r>
              <a:rPr lang="en-US" sz="2025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CAP_SYS_ADMIN available (typical in a privileged LXC/Docker container), two long-documented techniques become viable: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9704070" y="5855970"/>
            <a:ext cx="7883271" cy="411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110"/>
              </a:lnSpc>
              <a:buNone/>
            </a:pPr>
            <a:r>
              <a:rPr lang="en-US" sz="2025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Bind-mount / device access to the host filesystem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9704070" y="6324124"/>
            <a:ext cx="7381609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7110"/>
              </a:lnSpc>
              <a:buNone/>
            </a:pPr>
            <a:r>
              <a:rPr lang="en-US" sz="2025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cgroup v1 release_agent / notify_on_release (basis of CVE-2022-0492)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047750" y="7782401"/>
            <a:ext cx="15697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asserted, not tested — the read that closed this vector (root → host uid 100000) would instead have shown root → host uid 0. The RCE path, already blocked here by HAProxy, would then have been the only remaining gate.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47750" y="8830151"/>
            <a:ext cx="16678275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Sources: linuxcontainers.org “LXC Security” · C. Brauner, “Runtimes and the Curse of the Privileged Container” · Unit42 / Sysdig on CVE-2022-0492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336429"/>
            <a:ext cx="10205085" cy="384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047750" y="4006989"/>
            <a:ext cx="10205085" cy="989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435"/>
              </a:lnSpc>
              <a:buNone/>
            </a:pPr>
            <a:r>
              <a:rPr lang="en-US" sz="7200" b="1" kern="0" spc="-216" dirty="0">
                <a:solidFill>
                  <a:srgbClr val="F2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1047750" y="5281791"/>
            <a:ext cx="1714500" cy="38100"/>
          </a:xfrm>
          <a:prstGeom prst="rect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5643741"/>
            <a:ext cx="8591550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330"/>
              </a:lnSpc>
              <a:buNone/>
            </a:pPr>
            <a:r>
              <a:rPr lang="en-US" sz="2700" dirty="0">
                <a:solidFill>
                  <a:srgbClr val="C6CB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leave session feedback.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047750" y="6447651"/>
            <a:ext cx="9555671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9A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Reports, skills &amp; scripts will be posted to https://failclosed.com next week.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372850" y="2038350"/>
            <a:ext cx="5867400" cy="5867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9550" y="2305050"/>
            <a:ext cx="5334000" cy="5334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117831" y="8115300"/>
            <a:ext cx="261518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9AA1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feedback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1732</Words>
  <Application>Microsoft Office PowerPoint</Application>
  <PresentationFormat>Custom</PresentationFormat>
  <Paragraphs>255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2026-09-26T21:03:06Z</dcterms:created>
  <dcterms:modified xsi:type="dcterms:W3CDTF">2026-09-26T21:03:20Z</dcterms:modified>
</cp:coreProperties>
</file>